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10" autoAdjust="0"/>
  </p:normalViewPr>
  <p:slideViewPr>
    <p:cSldViewPr snapToGrid="0">
      <p:cViewPr>
        <p:scale>
          <a:sx n="75" d="100"/>
          <a:sy n="75" d="100"/>
        </p:scale>
        <p:origin x="974" y="115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894632" y="3429000"/>
            <a:ext cx="64224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IN" sz="3200" b="1" dirty="0">
                <a:solidFill>
                  <a:schemeClr val="accent6"/>
                </a:solidFill>
              </a:rPr>
              <a:t>Automatic Traffic Signal Control using Object Detection</a:t>
            </a:r>
            <a:endParaRPr lang="en-US" sz="32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2E55F-C7A6-6C84-8216-9CAD56FA974C}"/>
              </a:ext>
            </a:extLst>
          </p:cNvPr>
          <p:cNvSpPr txBox="1"/>
          <p:nvPr/>
        </p:nvSpPr>
        <p:spPr>
          <a:xfrm>
            <a:off x="223135" y="1673054"/>
            <a:ext cx="6106886" cy="570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Understand how AI and computer vision can automate traffic management.</a:t>
            </a:r>
          </a:p>
          <a:p>
            <a:endParaRPr lang="en-US" sz="1800" dirty="0"/>
          </a:p>
          <a:p>
            <a:r>
              <a:rPr lang="en-US" sz="1800" dirty="0"/>
              <a:t>Learn how YOLOv8 object detection is used to detect normal and emergency vehicles.</a:t>
            </a:r>
          </a:p>
          <a:p>
            <a:endParaRPr lang="en-US" sz="1800" dirty="0"/>
          </a:p>
          <a:p>
            <a:r>
              <a:rPr lang="en-IN" sz="1800" dirty="0"/>
              <a:t>Implement lane-wise traffic density estimation.</a:t>
            </a:r>
          </a:p>
          <a:p>
            <a:endParaRPr lang="en-US" sz="1800" dirty="0"/>
          </a:p>
          <a:p>
            <a:r>
              <a:rPr lang="en-US" sz="1800" dirty="0"/>
              <a:t>Design a smart traffic system that adapts signal timing based on real-time traffic.</a:t>
            </a:r>
          </a:p>
          <a:p>
            <a:endParaRPr lang="en-US" sz="1800" dirty="0"/>
          </a:p>
          <a:p>
            <a:r>
              <a:rPr lang="en-US" sz="1800" dirty="0"/>
              <a:t>Give priority clearance for emergency vehicles through model ensemble strategy.</a:t>
            </a:r>
          </a:p>
          <a:p>
            <a:endParaRPr lang="en-US" dirty="0"/>
          </a:p>
          <a:p>
            <a:r>
              <a:rPr lang="en-US" dirty="0"/>
              <a:t>Build a practical web-based traffic control demo.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CF00AB-AB1D-FF16-094F-FEF4A10FCDDF}"/>
              </a:ext>
            </a:extLst>
          </p:cNvPr>
          <p:cNvSpPr/>
          <p:nvPr/>
        </p:nvSpPr>
        <p:spPr>
          <a:xfrm>
            <a:off x="168584" y="184746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354771-AD59-53CA-741D-69DEC2D5AC21}"/>
              </a:ext>
            </a:extLst>
          </p:cNvPr>
          <p:cNvSpPr/>
          <p:nvPr/>
        </p:nvSpPr>
        <p:spPr>
          <a:xfrm>
            <a:off x="172532" y="2721950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5C2E18-5FCD-A4C5-40BC-8624885015C9}"/>
              </a:ext>
            </a:extLst>
          </p:cNvPr>
          <p:cNvSpPr/>
          <p:nvPr/>
        </p:nvSpPr>
        <p:spPr>
          <a:xfrm>
            <a:off x="172533" y="357643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546D44-EC79-4362-8477-506174715E8E}"/>
              </a:ext>
            </a:extLst>
          </p:cNvPr>
          <p:cNvSpPr/>
          <p:nvPr/>
        </p:nvSpPr>
        <p:spPr>
          <a:xfrm>
            <a:off x="166351" y="413693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BB18AD-CDA2-E0D9-EEAA-5B11C2994590}"/>
              </a:ext>
            </a:extLst>
          </p:cNvPr>
          <p:cNvSpPr/>
          <p:nvPr/>
        </p:nvSpPr>
        <p:spPr>
          <a:xfrm>
            <a:off x="148090" y="4949060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90C7F5-BD4A-7608-58DB-6D3ADAEADF58}"/>
              </a:ext>
            </a:extLst>
          </p:cNvPr>
          <p:cNvSpPr/>
          <p:nvPr/>
        </p:nvSpPr>
        <p:spPr>
          <a:xfrm>
            <a:off x="148090" y="5708300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>
                <a:solidFill>
                  <a:srgbClr val="213163"/>
                </a:solidFill>
              </a:rPr>
              <a:t>ools and Technology used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1B9FA-BB99-E933-EAA0-A183CD1DBFDF}"/>
              </a:ext>
            </a:extLst>
          </p:cNvPr>
          <p:cNvSpPr txBox="1"/>
          <p:nvPr/>
        </p:nvSpPr>
        <p:spPr>
          <a:xfrm>
            <a:off x="1619194" y="1893025"/>
            <a:ext cx="10786166" cy="612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chemeClr val="tx1"/>
                </a:solidFill>
              </a:rPr>
              <a:t>Python 3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>
                <a:solidFill>
                  <a:schemeClr val="tx1"/>
                </a:solidFill>
              </a:rPr>
              <a:t>YOLOv8 </a:t>
            </a:r>
            <a:r>
              <a:rPr lang="en-IN" dirty="0">
                <a:solidFill>
                  <a:schemeClr val="tx1"/>
                </a:solidFill>
              </a:rPr>
              <a:t>(Ultralytics)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>
                <a:solidFill>
                  <a:schemeClr val="tx1"/>
                </a:solidFill>
              </a:rPr>
              <a:t>OpenCV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>
                <a:solidFill>
                  <a:schemeClr val="tx1"/>
                </a:solidFill>
              </a:rPr>
              <a:t>Flask Web Framework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Google Colab </a:t>
            </a:r>
            <a:r>
              <a:rPr lang="en-US" dirty="0">
                <a:solidFill>
                  <a:schemeClr val="tx1"/>
                </a:solidFill>
              </a:rPr>
              <a:t>(for GPU model training)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>
                <a:solidFill>
                  <a:schemeClr val="tx1"/>
                </a:solidFill>
              </a:rPr>
              <a:t>VS Code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 HTML, CSS</a:t>
            </a:r>
            <a:r>
              <a:rPr lang="en-IN" dirty="0">
                <a:solidFill>
                  <a:schemeClr val="tx1"/>
                </a:solidFill>
              </a:rPr>
              <a:t> (Frontend UI)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 GitHub</a:t>
            </a:r>
            <a:r>
              <a:rPr lang="en-IN" dirty="0">
                <a:solidFill>
                  <a:schemeClr val="tx1"/>
                </a:solidFill>
              </a:rPr>
              <a:t> (project repository)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513EA5-F1A0-8502-1552-62ACDEA2D339}"/>
              </a:ext>
            </a:extLst>
          </p:cNvPr>
          <p:cNvSpPr/>
          <p:nvPr/>
        </p:nvSpPr>
        <p:spPr>
          <a:xfrm>
            <a:off x="1495010" y="215226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DA2643-872C-ABD2-0B91-863E7AB914CE}"/>
              </a:ext>
            </a:extLst>
          </p:cNvPr>
          <p:cNvSpPr/>
          <p:nvPr/>
        </p:nvSpPr>
        <p:spPr>
          <a:xfrm>
            <a:off x="1495009" y="2691847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A134D-AF5C-E285-4E3C-6D29422EE4DE}"/>
              </a:ext>
            </a:extLst>
          </p:cNvPr>
          <p:cNvSpPr/>
          <p:nvPr/>
        </p:nvSpPr>
        <p:spPr>
          <a:xfrm>
            <a:off x="1491607" y="3261739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FBD336-618E-523B-3952-104425BB05F6}"/>
              </a:ext>
            </a:extLst>
          </p:cNvPr>
          <p:cNvSpPr/>
          <p:nvPr/>
        </p:nvSpPr>
        <p:spPr>
          <a:xfrm>
            <a:off x="1495361" y="3825499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DE2495-3F35-474E-656B-6CCA4042B522}"/>
              </a:ext>
            </a:extLst>
          </p:cNvPr>
          <p:cNvSpPr/>
          <p:nvPr/>
        </p:nvSpPr>
        <p:spPr>
          <a:xfrm>
            <a:off x="1499501" y="4365085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CE5B96-348C-2497-5349-180A32D5E2DB}"/>
              </a:ext>
            </a:extLst>
          </p:cNvPr>
          <p:cNvSpPr/>
          <p:nvPr/>
        </p:nvSpPr>
        <p:spPr>
          <a:xfrm>
            <a:off x="1491606" y="4956075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95F6DA-B368-D7CA-122F-F66C9209BAEC}"/>
              </a:ext>
            </a:extLst>
          </p:cNvPr>
          <p:cNvSpPr/>
          <p:nvPr/>
        </p:nvSpPr>
        <p:spPr>
          <a:xfrm>
            <a:off x="1491605" y="5547065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40A5DE-65D0-73E9-3422-0DD9349E23E5}"/>
              </a:ext>
            </a:extLst>
          </p:cNvPr>
          <p:cNvSpPr/>
          <p:nvPr/>
        </p:nvSpPr>
        <p:spPr>
          <a:xfrm>
            <a:off x="1491605" y="605942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874A4-7EC3-5C2E-85C8-4FA88773FEAA}"/>
              </a:ext>
            </a:extLst>
          </p:cNvPr>
          <p:cNvSpPr txBox="1"/>
          <p:nvPr/>
        </p:nvSpPr>
        <p:spPr>
          <a:xfrm>
            <a:off x="2225040" y="1414766"/>
            <a:ext cx="7741920" cy="612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1)Dataset Preparation</a:t>
            </a:r>
            <a:endParaRPr lang="en-US" dirty="0"/>
          </a:p>
          <a:p>
            <a:r>
              <a:rPr lang="en-US" dirty="0"/>
              <a:t>    Collected normal &amp; emergency vehicle datasets</a:t>
            </a:r>
          </a:p>
          <a:p>
            <a:r>
              <a:rPr lang="en-US" dirty="0"/>
              <a:t>    Annotated images and organized into train/val sets</a:t>
            </a:r>
          </a:p>
          <a:p>
            <a:r>
              <a:rPr lang="en-US" b="1" dirty="0"/>
              <a:t>2)Model Training</a:t>
            </a:r>
            <a:endParaRPr lang="en-US" dirty="0"/>
          </a:p>
          <a:p>
            <a:r>
              <a:rPr lang="en-US" dirty="0"/>
              <a:t>    Trained YOLOv8 model for normal vehicles</a:t>
            </a:r>
          </a:p>
          <a:p>
            <a:r>
              <a:rPr lang="en-US" dirty="0"/>
              <a:t>    Trained YOLOv8 model for emergency vehicles</a:t>
            </a:r>
          </a:p>
          <a:p>
            <a:r>
              <a:rPr lang="en-US" b="1" dirty="0"/>
              <a:t>3)Model Integration (Ensemble)</a:t>
            </a:r>
            <a:endParaRPr lang="en-US" dirty="0"/>
          </a:p>
          <a:p>
            <a:r>
              <a:rPr lang="en-US" dirty="0"/>
              <a:t>    Combined outputs from both models</a:t>
            </a:r>
          </a:p>
          <a:p>
            <a:r>
              <a:rPr lang="en-US" dirty="0"/>
              <a:t>    Applied Non-Max Suppression to remove duplicates</a:t>
            </a:r>
          </a:p>
          <a:p>
            <a:r>
              <a:rPr lang="en-US" b="1" dirty="0"/>
              <a:t>4)Traffic Logic Design</a:t>
            </a:r>
            <a:endParaRPr lang="en-US" dirty="0"/>
          </a:p>
          <a:p>
            <a:r>
              <a:rPr lang="en-US" dirty="0"/>
              <a:t>    Lane-wise vehicle counting</a:t>
            </a:r>
          </a:p>
          <a:p>
            <a:r>
              <a:rPr lang="en-US" dirty="0"/>
              <a:t>    Priority rules: </a:t>
            </a:r>
            <a:r>
              <a:rPr lang="en-US" b="1" dirty="0"/>
              <a:t>Ambulance &gt; Firetruck &gt; Police &gt; Density</a:t>
            </a:r>
            <a:endParaRPr lang="en-US" dirty="0"/>
          </a:p>
          <a:p>
            <a:r>
              <a:rPr lang="en-US" dirty="0"/>
              <a:t>    Dynamic green-light duration calculation</a:t>
            </a:r>
          </a:p>
          <a:p>
            <a:r>
              <a:rPr lang="en-US" b="1" dirty="0"/>
              <a:t>5)Web Deployment</a:t>
            </a:r>
            <a:endParaRPr lang="en-US" dirty="0"/>
          </a:p>
          <a:p>
            <a:r>
              <a:rPr lang="en-US" dirty="0"/>
              <a:t>    Built Flask web app interface</a:t>
            </a:r>
          </a:p>
          <a:p>
            <a:r>
              <a:rPr lang="en-US" dirty="0"/>
              <a:t>    Supports image &amp; video processing</a:t>
            </a:r>
          </a:p>
          <a:p>
            <a:r>
              <a:rPr lang="en-US" dirty="0"/>
              <a:t>    Displays detection + signal decision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52952-C0A2-365F-97AE-D4B323079B51}"/>
              </a:ext>
            </a:extLst>
          </p:cNvPr>
          <p:cNvSpPr txBox="1"/>
          <p:nvPr/>
        </p:nvSpPr>
        <p:spPr>
          <a:xfrm>
            <a:off x="2644140" y="1454522"/>
            <a:ext cx="89789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dirty="0"/>
              <a:t>Urban traffic congestion is increasing rapidly, leading to:</a:t>
            </a:r>
          </a:p>
          <a:p>
            <a:pPr algn="just">
              <a:buNone/>
            </a:pPr>
            <a:endParaRPr lang="en-US" sz="1600" dirty="0"/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Long vehicle queues</a:t>
            </a:r>
          </a:p>
          <a:p>
            <a:pPr algn="just"/>
            <a:endParaRPr lang="en-US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Delayed emergency response</a:t>
            </a:r>
          </a:p>
          <a:p>
            <a:pPr algn="just"/>
            <a:endParaRPr lang="en-US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High CO₂ emissions</a:t>
            </a:r>
          </a:p>
          <a:p>
            <a:pPr algn="just"/>
            <a:endParaRPr lang="en-US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Inefficient fixed-timer traffic signals</a:t>
            </a:r>
          </a:p>
          <a:p>
            <a:pPr algn="just"/>
            <a:endParaRPr lang="en-US" sz="1600" dirty="0"/>
          </a:p>
          <a:p>
            <a:pPr algn="just">
              <a:buNone/>
            </a:pPr>
            <a:r>
              <a:rPr lang="en-US" sz="1600" dirty="0"/>
              <a:t>Current manual or fixed-time traffic systems are not</a:t>
            </a:r>
            <a:r>
              <a:rPr lang="en-US" sz="1600" b="1" dirty="0"/>
              <a:t> </a:t>
            </a:r>
            <a:r>
              <a:rPr lang="en-US" sz="1600" dirty="0"/>
              <a:t>capable of adapting to real-time traffic density or identifying emergency vehicles when they appear.</a:t>
            </a:r>
          </a:p>
          <a:p>
            <a:pPr algn="just">
              <a:buNone/>
            </a:pPr>
            <a:endParaRPr lang="en-US" sz="1600" dirty="0"/>
          </a:p>
          <a:p>
            <a:pPr algn="just">
              <a:buNone/>
            </a:pPr>
            <a:r>
              <a:rPr lang="en-US" sz="1600" dirty="0"/>
              <a:t>The Goal is to develop an </a:t>
            </a:r>
            <a:r>
              <a:rPr lang="en-US" sz="1600" b="1" dirty="0"/>
              <a:t>AI-based traffic signal control system</a:t>
            </a:r>
            <a:r>
              <a:rPr lang="en-US" sz="1600" dirty="0"/>
              <a:t> that:</a:t>
            </a:r>
          </a:p>
          <a:p>
            <a:pPr lvl="2" algn="just"/>
            <a:r>
              <a:rPr lang="en-US" sz="1600" dirty="0"/>
              <a:t>       	1)Detects normal and emergency vehicles in real-time</a:t>
            </a:r>
          </a:p>
          <a:p>
            <a:pPr lvl="2" algn="just"/>
            <a:r>
              <a:rPr lang="en-US" sz="1600" dirty="0"/>
              <a:t>	2)Calculates traffic density per lane</a:t>
            </a:r>
          </a:p>
          <a:p>
            <a:pPr lvl="2" algn="just"/>
            <a:r>
              <a:rPr lang="en-US" sz="1600" dirty="0"/>
              <a:t>	3)Gives </a:t>
            </a:r>
            <a:r>
              <a:rPr lang="en-US" sz="1600" b="1" dirty="0"/>
              <a:t>automatic green signal</a:t>
            </a:r>
            <a:r>
              <a:rPr lang="en-US" sz="1600" dirty="0"/>
              <a:t> to the lane with highest density</a:t>
            </a:r>
          </a:p>
          <a:p>
            <a:pPr lvl="2" algn="just"/>
            <a:r>
              <a:rPr lang="en-US" sz="1600" dirty="0"/>
              <a:t>	4)Gives </a:t>
            </a:r>
            <a:r>
              <a:rPr lang="en-US" sz="1600" b="1" dirty="0"/>
              <a:t>priority clearance to emergency vehicles</a:t>
            </a:r>
            <a:endParaRPr lang="en-US" sz="1600" dirty="0"/>
          </a:p>
          <a:p>
            <a:pPr lvl="2" algn="just"/>
            <a:r>
              <a:rPr lang="en-US" sz="1600" dirty="0"/>
              <a:t>	5)Works on both </a:t>
            </a:r>
            <a:r>
              <a:rPr lang="en-US" sz="1600" b="1" dirty="0"/>
              <a:t>single-lane and dual-lane image/video inputs</a:t>
            </a:r>
            <a:endParaRPr lang="en-US" sz="1600" dirty="0"/>
          </a:p>
          <a:p>
            <a:pPr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063B9-59FE-1E1C-9ABC-91BB5C6A8CFD}"/>
              </a:ext>
            </a:extLst>
          </p:cNvPr>
          <p:cNvSpPr txBox="1"/>
          <p:nvPr/>
        </p:nvSpPr>
        <p:spPr>
          <a:xfrm>
            <a:off x="3174337" y="2021001"/>
            <a:ext cx="61010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Our AI-based system provides:</a:t>
            </a:r>
          </a:p>
          <a:p>
            <a:r>
              <a:rPr lang="en-IN" sz="2000" b="1" dirty="0"/>
              <a:t>	1)Accurate vehicle detection using 	YOLOv8</a:t>
            </a:r>
            <a:endParaRPr lang="en-IN" sz="2000" dirty="0"/>
          </a:p>
          <a:p>
            <a:pPr lvl="3"/>
            <a:r>
              <a:rPr lang="en-IN" sz="2000" b="1" dirty="0"/>
              <a:t>	2)Dual-model ensemble system</a:t>
            </a:r>
            <a:endParaRPr lang="en-IN" sz="2000" dirty="0"/>
          </a:p>
          <a:p>
            <a:r>
              <a:rPr lang="en-IN" sz="2000" b="1" dirty="0"/>
              <a:t>	3)Lane-wise vehicle counting</a:t>
            </a:r>
            <a:endParaRPr lang="en-IN" sz="2000" dirty="0"/>
          </a:p>
          <a:p>
            <a:r>
              <a:rPr lang="en-IN" sz="2000" b="1" dirty="0"/>
              <a:t>	4)Automatic signal decision-making</a:t>
            </a:r>
            <a:endParaRPr lang="en-IN" sz="2000" dirty="0"/>
          </a:p>
          <a:p>
            <a:r>
              <a:rPr lang="en-IN" sz="2000" b="1" dirty="0"/>
              <a:t>	5)Emergency vehicle priority</a:t>
            </a:r>
            <a:endParaRPr lang="en-IN" sz="2000" dirty="0"/>
          </a:p>
          <a:p>
            <a:r>
              <a:rPr lang="en-IN" sz="2000" b="1" dirty="0"/>
              <a:t>	6)Dynamic green-light duration</a:t>
            </a:r>
            <a:endParaRPr lang="en-IN" sz="2000" dirty="0"/>
          </a:p>
          <a:p>
            <a:r>
              <a:rPr lang="en-IN" sz="2000" dirty="0"/>
              <a:t>	</a:t>
            </a:r>
            <a:r>
              <a:rPr lang="en-IN" sz="2000" b="1" dirty="0"/>
              <a:t>7)Web app interface with real-time 	processing</a:t>
            </a:r>
          </a:p>
          <a:p>
            <a:pPr>
              <a:buNone/>
            </a:pPr>
            <a:r>
              <a:rPr lang="en-IN" sz="2000" dirty="0"/>
              <a:t>The system significantly improves traffic flow and ensures emergency vehicles receive immediate road clearance.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9218C-CC84-CCBE-F1F6-493FF6545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293" y="1454522"/>
            <a:ext cx="5197078" cy="5344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1A6681-FABC-B092-A596-84D2B72C63FA}"/>
              </a:ext>
            </a:extLst>
          </p:cNvPr>
          <p:cNvSpPr txBox="1"/>
          <p:nvPr/>
        </p:nvSpPr>
        <p:spPr>
          <a:xfrm>
            <a:off x="255104" y="5803588"/>
            <a:ext cx="11845456" cy="564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Git Hub Link: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			https://github.com/Harshith810/Automatic-Traffic-Signal-Control-using-Object-Detection-.git</a:t>
            </a:r>
            <a:endParaRPr lang="en-IN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769D7-BFBE-427F-AA9D-8B8EEEC153D3}"/>
              </a:ext>
            </a:extLst>
          </p:cNvPr>
          <p:cNvSpPr txBox="1"/>
          <p:nvPr/>
        </p:nvSpPr>
        <p:spPr>
          <a:xfrm>
            <a:off x="2158063" y="1706880"/>
            <a:ext cx="9871377" cy="296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Successfully implemented an AI-powered intelligent traffic signal system.</a:t>
            </a:r>
          </a:p>
          <a:p>
            <a:r>
              <a:rPr lang="en-US" dirty="0"/>
              <a:t>Achieved high detection accuracy:</a:t>
            </a:r>
          </a:p>
          <a:p>
            <a:r>
              <a:rPr lang="en-US" b="1" dirty="0"/>
              <a:t>	Emergency Vehicle Model: 90.7% mAP50</a:t>
            </a:r>
            <a:endParaRPr lang="en-US" dirty="0"/>
          </a:p>
          <a:p>
            <a:r>
              <a:rPr lang="en-US" b="1" dirty="0"/>
              <a:t>	Normal Vehicle Model: 88.3% mAP50</a:t>
            </a:r>
            <a:endParaRPr lang="en-US" dirty="0"/>
          </a:p>
          <a:p>
            <a:r>
              <a:rPr lang="en-US" dirty="0"/>
              <a:t>The ensemble strategy improved system reliability and detection accuracy.</a:t>
            </a:r>
          </a:p>
          <a:p>
            <a:r>
              <a:rPr lang="en-US" dirty="0"/>
              <a:t>Emergency vehicles receive </a:t>
            </a:r>
            <a:r>
              <a:rPr lang="en-US" b="1" dirty="0"/>
              <a:t>immediate priority clearance</a:t>
            </a:r>
            <a:r>
              <a:rPr lang="en-US" dirty="0"/>
              <a:t>, reducing response time.</a:t>
            </a:r>
          </a:p>
          <a:p>
            <a:r>
              <a:rPr lang="en-US" dirty="0"/>
              <a:t>The final web application supports </a:t>
            </a:r>
            <a:r>
              <a:rPr lang="en-US" b="1" dirty="0"/>
              <a:t>dual-lane comparison</a:t>
            </a:r>
            <a:r>
              <a:rPr lang="en-US" dirty="0"/>
              <a:t>, </a:t>
            </a:r>
            <a:r>
              <a:rPr lang="en-US" b="1" dirty="0"/>
              <a:t>video processing</a:t>
            </a:r>
            <a:r>
              <a:rPr lang="en-US" dirty="0"/>
              <a:t>, and </a:t>
            </a:r>
            <a:r>
              <a:rPr lang="en-US" b="1" dirty="0"/>
              <a:t>live visualization</a:t>
            </a:r>
            <a:r>
              <a:rPr lang="en-US" dirty="0"/>
              <a:t>.</a:t>
            </a:r>
          </a:p>
          <a:p>
            <a:r>
              <a:rPr lang="en-US" dirty="0"/>
              <a:t>Overall, the system offers a scalable, efficient, and smart solution for real-world traffic management.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8086F9-2097-DD7A-04BE-2062DBA5F2E1}"/>
              </a:ext>
            </a:extLst>
          </p:cNvPr>
          <p:cNvSpPr/>
          <p:nvPr/>
        </p:nvSpPr>
        <p:spPr>
          <a:xfrm>
            <a:off x="2111410" y="1888101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0290CF-E649-F52D-F664-A9F18BFB3ED4}"/>
              </a:ext>
            </a:extLst>
          </p:cNvPr>
          <p:cNvSpPr/>
          <p:nvPr/>
        </p:nvSpPr>
        <p:spPr>
          <a:xfrm>
            <a:off x="2111408" y="2169979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BF2E7F-A57C-C3B6-0772-C659D1009045}"/>
              </a:ext>
            </a:extLst>
          </p:cNvPr>
          <p:cNvSpPr/>
          <p:nvPr/>
        </p:nvSpPr>
        <p:spPr>
          <a:xfrm>
            <a:off x="2111408" y="2998350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0E4218-22D9-0676-5A9B-FE7AC6B9A37B}"/>
              </a:ext>
            </a:extLst>
          </p:cNvPr>
          <p:cNvSpPr/>
          <p:nvPr/>
        </p:nvSpPr>
        <p:spPr>
          <a:xfrm>
            <a:off x="2111408" y="3316969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0DB024-4325-CB08-F3A3-0740A40852D5}"/>
              </a:ext>
            </a:extLst>
          </p:cNvPr>
          <p:cNvSpPr/>
          <p:nvPr/>
        </p:nvSpPr>
        <p:spPr>
          <a:xfrm>
            <a:off x="2111407" y="3588935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700F90E-D200-AD6B-5352-5836FE1ED77C}"/>
              </a:ext>
            </a:extLst>
          </p:cNvPr>
          <p:cNvSpPr/>
          <p:nvPr/>
        </p:nvSpPr>
        <p:spPr>
          <a:xfrm>
            <a:off x="2108393" y="4132867"/>
            <a:ext cx="46653" cy="46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62</TotalTime>
  <Words>530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Potturu Harshith</cp:lastModifiedBy>
  <cp:revision>4</cp:revision>
  <dcterms:created xsi:type="dcterms:W3CDTF">2024-12-31T09:40:01Z</dcterms:created>
  <dcterms:modified xsi:type="dcterms:W3CDTF">2025-11-15T09:45:07Z</dcterms:modified>
</cp:coreProperties>
</file>